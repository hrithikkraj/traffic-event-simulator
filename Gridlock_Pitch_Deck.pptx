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5600" b="1">
                <a:solidFill>
                  <a:srgbClr val="F2F5FA"/>
                </a:solidFill>
                <a:latin typeface="Calibri"/>
              </a:rPr>
              <a:t>🚦 GRIDLOCK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6324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>
                <a:solidFill>
                  <a:srgbClr val="FFE11B"/>
                </a:solidFill>
                <a:latin typeface="Calibri"/>
              </a:rPr>
              <a:t>Event-Driven Congestion Intelligence for Bengaluru Traffic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>
                <a:solidFill>
                  <a:srgbClr val="F2F5FA"/>
                </a:solidFill>
                <a:latin typeface="Calibri"/>
              </a:rPr>
              <a:t>Forecast  →  Quantify Impact  →  Prescribe Deployment  →  Learn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4754880"/>
            <a:ext cx="3840480" cy="254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1078992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Team TrafficSolvers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Ryan Bhan (Lead, IIIT-D) · Kanan Mittal (IGDTUW) · Aditya Rawat (IIIT-D) · Hrithik Raj (IIIT-D)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Flipkart Gridlock Hackathon 2.0 · Round 2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>
                <a:solidFill>
                  <a:srgbClr val="9AA7B8"/>
                </a:solidFill>
                <a:latin typeface="Calibri"/>
              </a:rPr>
              <a:t>Built on the anonymized ASTraM incident dataset — 8,173 events × 46 fields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THE OPERATIONAL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Events break the city — and we react blind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F2F5FA"/>
                </a:solidFill>
                <a:latin typeface="Calibri"/>
              </a:rPr>
              <a:t>Rallies, festivals, sports, construction &amp; sudden gatherings cause localized traffic breakdowns. Today the response is reactive and experience-driven.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3611880" cy="100584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①  Impact is not quantified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No way to know in advance how bad an event will be, how long it will tie up the road, or which junctions it threatens.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88536" y="2331720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②  Deployment is guesswork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Officers, barricades and diversions are assigned from experience — not from data, and not optimized against a finite resource pool.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9872" y="2331720"/>
            <a:ext cx="3611880" cy="365760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19872" y="2331720"/>
            <a:ext cx="3611880" cy="100584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2752" y="2587752"/>
            <a:ext cx="324612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③  No post-event learning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Every event is handled fresh. Mistakes are never fed back; the system never gets smarter after the fact.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DATA INSIGHT MOST TEAMS WILL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This is an incident log — not congestion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vents_by_h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50811"/>
            <a:ext cx="7132320" cy="38878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417320"/>
            <a:ext cx="40233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5A5F"/>
                </a:solidFill>
                <a:latin typeface="Calibri"/>
              </a:rPr>
              <a:t>There is NO speed / volume / delay field.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So the target — “traffic impact” — does not exist in the data. It must be engineered.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Events peak at 2 AM, not rush hour: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60% are vehicle breakdowns, driven by night-time freight movement. Teams that assume normal rush-hour patterns build the wrong model.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5AA0FF"/>
                </a:solidFill>
                <a:latin typeface="Calibri"/>
              </a:rPr>
              <a:t>We turn this gap into our centrepiece.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OUR REFRAME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Not prediction — a decision-support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0">
                <a:solidFill>
                  <a:srgbClr val="F2F5FA"/>
                </a:solidFill>
                <a:latin typeface="Calibri"/>
              </a:rPr>
              <a:t>Most teams stop at “predict congestion.” We deliver the full operational loop: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2606040" cy="2286000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FORECAST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where / when / how many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468880"/>
            <a:ext cx="2606040" cy="228600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QUANTIFY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Event Impact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468880"/>
            <a:ext cx="2606040" cy="2286000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PRESCRIBE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manpower · barricades · diversions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3200400"/>
            <a:ext cx="228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600" b="1">
                <a:solidFill>
                  <a:srgbClr val="9AA7B8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560" y="2468880"/>
            <a:ext cx="2606040" cy="2286000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2560" y="2971800"/>
            <a:ext cx="2606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2100" b="1">
                <a:solidFill>
                  <a:srgbClr val="F2F5FA"/>
                </a:solidFill>
                <a:latin typeface="Calibri"/>
              </a:rPr>
              <a:t>LEARN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3840480"/>
            <a:ext cx="238658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post-event playbook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9AA7B8"/>
                </a:solidFill>
                <a:latin typeface="Calibri"/>
              </a:rPr>
              <a:t>Two pipelines — Planned (proactive scheduling) and Unplanned (real-time triage) — exactly matching the problem statement.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Four layers on one data foundation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200400" cy="822960"/>
          </a:xfrm>
          <a:prstGeom prst="round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55064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L0 · DATA FOUNDATION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1417320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417320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clean · leakage-safe features · H3 hex bins · EN+Kannada text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68296"/>
            <a:ext cx="3200400" cy="822960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L1 · FORECAST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2368296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368296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LightGBM-Poisson corridor counts · empirical-Bayes hotspots · Hawkes self-excitation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19272"/>
            <a:ext cx="3200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557016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L2 · IMPACT (EIS)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31920" y="3319272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319272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clearance quantile regression + road-closure classifier → Event Impact Score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70248"/>
            <a:ext cx="3200400" cy="822960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507992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L3 · PRESCRIBE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31920" y="4270248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270248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manpower / barricades / diversions + city-wide officer optimization (ILP)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21224"/>
            <a:ext cx="3200400" cy="822960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458968"/>
            <a:ext cx="3200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F2F5FA"/>
                </a:solidFill>
                <a:latin typeface="Calibri"/>
              </a:rPr>
              <a:t>L4 · LEARN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1920" y="5221224"/>
            <a:ext cx="7708392" cy="82296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5221224"/>
            <a:ext cx="73152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predicted-vs-actual playbook · model-drift detection · retrain triggers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L2 · THE SPINE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Event Impact Score — engineering the missing target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67665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F2F5FA"/>
                </a:solidFill>
                <a:latin typeface="Calibri"/>
              </a:rPr>
              <a:t>Framed as expected vehicle-hours of delay: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FFE11B"/>
                </a:solidFill>
                <a:latin typeface="Calibri"/>
              </a:rPr>
              <a:t>EIS ≈ Clearance × Spatial reach × Baseline flow × Closure severity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•  Clearance time is predicted (leakage-safe), not observed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•  Robust percentile-rank scaling → Low / Medium / High / Critical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F2F5FA"/>
                </a:solidFill>
                <a:latin typeface="Calibri"/>
              </a:rPr>
              <a:t>•  VALIDATED against observed severity: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2ECC71"/>
                </a:solidFill>
                <a:latin typeface="Calibri"/>
              </a:rPr>
              <a:t>     Spearman 0.70  ·  AUC 0.89 flagging top-10% impact events</a:t>
            </a:r>
          </a:p>
        </p:txBody>
      </p:sp>
      <p:pic>
        <p:nvPicPr>
          <p:cNvPr id="8" name="Picture 7" descr="eis_by_ca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2285265"/>
            <a:ext cx="4572000" cy="2973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MODELLING RIGOUR (KAGGLE-GRADE)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10-model zoo · k-fold CV · leakage hunt · Optuna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sure_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81901"/>
            <a:ext cx="6675120" cy="417999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69480" y="1371600"/>
            <a:ext cx="448056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E11B"/>
                </a:solidFill>
                <a:latin typeface="Calibri"/>
              </a:rPr>
              <a:t>Headline results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Clearance time   MAE 2.88 h (blended)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Road closure     PR-AUC 0.471 · +469% vs baseline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EIS validity     Spearman 0.70 · AUC 0.89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Event forecast   +16.7% over lag-7 baseline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Discipline that wins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Time-split CV + spatial holdout (no leakage)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Leakage hunt: dropped end-coords leaking @ AUC 0.976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Priority shown ~location-circular — reported honestly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•  Stacked ensemble + Optuna tuning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L1 · FORECAST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Where, when &amp; how many events — ahead of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ily_volu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2228"/>
            <a:ext cx="7178040" cy="36250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417320"/>
            <a:ext cx="402336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LightGBM-Poisson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corridor × day event counts — 16.7% better than the lag-7 baseline.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Empirical-Bayes hotspots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recurring corridor × hour risk surface for pre-positioning.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7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5AA0FF"/>
                </a:solidFill>
                <a:latin typeface="Calibri"/>
              </a:rPr>
              <a:t>Hawkes self-excitation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accidents cluster — branching ratio 0.31 — quantifying contagion.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L3 · PRESCRIBE + OPTIMIZE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The deliverable most teams never reach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57784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4B740"/>
                </a:solidFill>
                <a:latin typeface="Calibri"/>
              </a:rPr>
              <a:t>Per-event plan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Officers, barricade units and a real road-network diversion (OSRM) — driven by the validated EIS tier + closure probability.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4B740"/>
                </a:solidFill>
                <a:latin typeface="Calibri"/>
              </a:rPr>
              <a:t>City-wide optimization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Finite officer pool allocated by ILP (PuLP) — two doctrines: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•  Priority — cover highest-impact first (triage)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•  Efficiency — maximize total mitigated impact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17320"/>
            <a:ext cx="5330952" cy="4617720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417320"/>
            <a:ext cx="5330952" cy="713232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417320"/>
            <a:ext cx="493776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2F5FA"/>
                </a:solidFill>
                <a:latin typeface="Calibri"/>
              </a:rPr>
              <a:t>Surge day — 7 Mar 2024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2377440"/>
            <a:ext cx="475488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400" b="1">
                <a:solidFill>
                  <a:srgbClr val="F2F5FA"/>
                </a:solidFill>
                <a:latin typeface="Calibri"/>
              </a:rPr>
              <a:t>214 events in one day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900" b="1">
                <a:solidFill>
                  <a:srgbClr val="FF5A5F"/>
                </a:solidFill>
                <a:latin typeface="Calibri"/>
              </a:rPr>
              <a:t>≈ 1,096 officers needed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0">
                <a:solidFill>
                  <a:srgbClr val="F2F5FA"/>
                </a:solidFill>
                <a:latin typeface="Calibri"/>
              </a:rPr>
              <a:t>vs ~120 available  →  a quantified deficit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9AA7B8"/>
                </a:solidFill>
                <a:latin typeface="Calibri"/>
              </a:rPr>
              <a:t>The system tells the commander exactly which events to staff first and how many more officers to escalate for — turning guesswork into math.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L4 · 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The post-event loop the brief explicitly asks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earning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82482"/>
            <a:ext cx="7040880" cy="457883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371600"/>
            <a:ext cx="4160520" cy="4800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FF5A5F"/>
                </a:solidFill>
                <a:latin typeface="Calibri"/>
              </a:rPr>
              <a:t>After events close,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we compare leak-free predictions with reality and build a playbook keyed by cause × H3 hex.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50" b="1">
                <a:solidFill>
                  <a:srgbClr val="FF5A5F"/>
                </a:solidFill>
                <a:latin typeface="Calibri"/>
              </a:rPr>
              <a:t>It self-diagnoses: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the model under-predicts infrastructure events — potholes by +8.0 h, water-logging +7.1 h — and flags those cells for retraining.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8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5AA0FF"/>
                </a:solidFill>
                <a:latin typeface="Calibri"/>
              </a:rPr>
              <a:t>Closes the “no post-event learning” gap most teams ignore.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A live decision-support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41732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🎯  Event Simulator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141732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41732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score any what-if event → EIS, clearance P50/P90, full deployment plan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28600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28600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🗺️  City Risk Map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77639" y="228600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6240" y="228600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all 8,173 events on a Bengaluru map, coloured by impact tier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15468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15468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📅  Surge-Day Replay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315468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06240" y="315468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replay a real day, set an officer budget → live allocation + deficit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2336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02336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📈  Forecast &amp; Hotspots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977639" y="402336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402336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corridor × hour risk heatmap, Hawkes, the 2-AM explainer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92040"/>
            <a:ext cx="3291840" cy="749808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4892040"/>
            <a:ext cx="310896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2F5FA"/>
                </a:solidFill>
                <a:latin typeface="Calibri"/>
              </a:rPr>
              <a:t>🔁  Learning Loop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77639" y="4892040"/>
            <a:ext cx="7680960" cy="749808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6240" y="4892040"/>
            <a:ext cx="73152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F2F5FA"/>
                </a:solidFill>
                <a:latin typeface="Calibri"/>
              </a:rPr>
              <a:t>predicted-vs-actual playbook + drift alerts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52160"/>
            <a:ext cx="11155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Live proof: the same breakdown scores EIS 17 at 2 AM vs 78 at 9 AM rush; a VIP movement scores 99.7 (Critical) with a real OSRM diversion drawn on the map.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WHY THIS WINS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Seven things the field won't have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463040"/>
            <a:ext cx="3611880" cy="100584"/>
          </a:xfrm>
          <a:prstGeom prst="round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Correct reframe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incident log, not congestion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4840" y="1463040"/>
            <a:ext cx="3611880" cy="100584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Engineered + validated EIS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Spearman 0.70 — the missing target, proven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463040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1463040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0" y="1719072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k-fold model zoo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10 models, stacking, Optuna — not one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8640" y="3054096"/>
            <a:ext cx="3611880" cy="100584"/>
          </a:xfrm>
          <a:prstGeom prst="roundRect">
            <a:avLst/>
          </a:prstGeom>
          <a:solidFill>
            <a:srgbClr val="FF5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Prescription + ILP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we allocate scarce officers; others only predict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34840" y="3054096"/>
            <a:ext cx="3611880" cy="100584"/>
          </a:xfrm>
          <a:prstGeom prst="roundRect">
            <a:avLst/>
          </a:prstGeom>
          <a:solidFill>
            <a:srgbClr val="5AA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Post-event learning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L4 playbook + drift — the 3rd gap, solved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3054096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321040" y="3054096"/>
            <a:ext cx="3611880" cy="100584"/>
          </a:xfrm>
          <a:prstGeom prst="roundRect">
            <a:avLst/>
          </a:prstGeom>
          <a:solidFill>
            <a:srgbClr val="2EC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20" y="3310128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Real-ML simulator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runs the trained models, not random numbers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645152"/>
            <a:ext cx="3611880" cy="1426464"/>
          </a:xfrm>
          <a:prstGeom prst="roundRect">
            <a:avLst/>
          </a:prstGeom>
          <a:solidFill>
            <a:srgbClr val="1B24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48640" y="4645152"/>
            <a:ext cx="3611880" cy="100584"/>
          </a:xfrm>
          <a:prstGeom prst="roundRect">
            <a:avLst/>
          </a:prstGeom>
          <a:solidFill>
            <a:srgbClr val="F4B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01184"/>
            <a:ext cx="3246120" cy="9692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F2F5FA"/>
                </a:solidFill>
                <a:latin typeface="Calibri"/>
              </a:rPr>
              <a:t>Honesty &amp; rigor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leakage hunt, time-split CV, stated limits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"/>
            <a:ext cx="146304" cy="868680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5AA0FF"/>
                </a:solidFill>
                <a:latin typeface="Calibri"/>
              </a:rPr>
              <a:t>IMPACT, ROADMAP &amp;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48640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700" b="1">
                <a:solidFill>
                  <a:srgbClr val="F2F5FA"/>
                </a:solidFill>
                <a:latin typeface="Calibri"/>
              </a:rPr>
              <a:t>Operational value — and what we'd add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25296"/>
            <a:ext cx="11274552" cy="1905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48640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2ECC71"/>
                </a:solidFill>
                <a:latin typeface="Calibri"/>
              </a:rPr>
              <a:t>Operational value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Quantified impact before the event, not after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Optimal, defensible resource deployment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Faster clearance via right-sized response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A city that gets smarter after every event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0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Roadmap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Plug in live flow (Google/TomTom) to calibrate EIS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Spatio-temporal GNN forecasting · officer-shift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417320"/>
            <a:ext cx="5440680" cy="4754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FF5A5F"/>
                </a:solidFill>
                <a:latin typeface="Calibri"/>
              </a:rPr>
              <a:t>Honest limitations (we say so)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No ground-truth flow → EIS validated vs proxies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Manpower data sparse (1.6%) → optimization + rules,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    not over-claimed as learned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2F5FA"/>
                </a:solidFill>
                <a:latin typeface="Calibri"/>
              </a:rPr>
              <a:t>•  5 months of data → calendar priors mitigate seasonality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F2F5FA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600" b="1">
                <a:solidFill>
                  <a:srgbClr val="5AA0FF"/>
                </a:solidFill>
                <a:latin typeface="Calibri"/>
              </a:rPr>
              <a:t>Stack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Python · LightGBM/XGBoost/CatBoost · scikit-learn · Optuna ·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H3 · PuLP · OSRM · Streamlit + pydeck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1274552" cy="127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455664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GRIDLOCK · Event-Driven Congestion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6455664"/>
            <a:ext cx="350215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500"/>
              </a:spcAft>
            </a:pPr>
            <a:r>
              <a:rPr sz="950" b="0">
                <a:solidFill>
                  <a:srgbClr val="9AA7B8"/>
                </a:solidFill>
                <a:latin typeface="Calibri"/>
              </a:rPr>
              <a:t>Flipkart Gridlock 2.0 · 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FE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87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4000" b="1">
                <a:solidFill>
                  <a:srgbClr val="F2F5FA"/>
                </a:solidFill>
                <a:latin typeface="Calibri"/>
              </a:rPr>
              <a:t>From reaction to anticipation.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383280"/>
            <a:ext cx="10607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800" b="0">
                <a:solidFill>
                  <a:srgbClr val="FFE11B"/>
                </a:solidFill>
                <a:latin typeface="Calibri"/>
              </a:rPr>
              <a:t>Forecast the event · quantify the impact · deploy the optimal response · learn from every outcome.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937760"/>
            <a:ext cx="3840480" cy="25400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120640"/>
            <a:ext cx="106070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700" b="1">
                <a:solidFill>
                  <a:srgbClr val="F2F5FA"/>
                </a:solidFill>
                <a:latin typeface="Calibri"/>
              </a:rPr>
              <a:t>Team TrafficSolvers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FFE11B"/>
                </a:solidFill>
                <a:latin typeface="Calibri"/>
              </a:rPr>
              <a:t>Ryan Bhan (Lead, IIIT-D) · Kanan Mittal (IGDTUW) · Aditya Rawat (IIIT-D) · Hrithik Raj (IIIT-D)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9AA7B8"/>
                </a:solidFill>
                <a:latin typeface="Calibri"/>
              </a:rPr>
              <a:t>GRIDLOCK — Event-Driven Congestion Intelligence  ·  Flipkart Gridlock Hackathon 2.0 · Round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